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 Factor %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0E4-42C2-8422-7D91AD47B37E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E4-42C2-8422-7D91AD47B37E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E4-42C2-8422-7D91AD47B37E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0E4-42C2-8422-7D91AD47B37E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0E4-42C2-8422-7D91AD47B37E}"/>
              </c:ext>
            </c:extLst>
          </c:dPt>
          <c:dPt>
            <c:idx val="5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0E4-42C2-8422-7D91AD47B37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75.3</c:v>
                </c:pt>
                <c:pt idx="1">
                  <c:v>75.400000000000006</c:v>
                </c:pt>
                <c:pt idx="2">
                  <c:v>76.900000000000006</c:v>
                </c:pt>
                <c:pt idx="3">
                  <c:v>77.7</c:v>
                </c:pt>
                <c:pt idx="4">
                  <c:v>77.2</c:v>
                </c:pt>
                <c:pt idx="5">
                  <c:v>78.099999999999994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0E4-42C2-8422-7D91AD47B3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Load Factor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99-4042-9813-7202900A3B68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99-4042-9813-7202900A3B68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299-4042-9813-7202900A3B68}"/>
              </c:ext>
            </c:extLst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99-4042-9813-7202900A3B6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99-4042-9813-7202900A3B6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99-4042-9813-7202900A3B6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299-4042-9813-7202900A3B6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299-4042-9813-7202900A3B6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Q1 (72.98%)</c:v>
                </c:pt>
                <c:pt idx="1">
                  <c:v>Q2 (78.07%)</c:v>
                </c:pt>
                <c:pt idx="2">
                  <c:v>Q3 (79.09%)</c:v>
                </c:pt>
                <c:pt idx="3">
                  <c:v>Q4 (76.83%)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72.98</c:v>
                </c:pt>
                <c:pt idx="1">
                  <c:v>78.069999999999993</c:v>
                </c:pt>
                <c:pt idx="2">
                  <c:v>79.09</c:v>
                </c:pt>
                <c:pt idx="3">
                  <c:v>76.83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299-4042-9813-7202900A3B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 Factor %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69.709999999999994</c:v>
                </c:pt>
                <c:pt idx="1">
                  <c:v>71.61</c:v>
                </c:pt>
                <c:pt idx="2">
                  <c:v>77.239999999999995</c:v>
                </c:pt>
                <c:pt idx="3">
                  <c:v>76.47</c:v>
                </c:pt>
                <c:pt idx="4">
                  <c:v>77.13</c:v>
                </c:pt>
                <c:pt idx="5">
                  <c:v>80.56</c:v>
                </c:pt>
                <c:pt idx="6">
                  <c:v>81.5</c:v>
                </c:pt>
                <c:pt idx="7">
                  <c:v>79.8</c:v>
                </c:pt>
                <c:pt idx="8">
                  <c:v>75.56</c:v>
                </c:pt>
                <c:pt idx="9">
                  <c:v>78.319999999999993</c:v>
                </c:pt>
                <c:pt idx="10">
                  <c:v>76.45</c:v>
                </c:pt>
                <c:pt idx="11">
                  <c:v>75.64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DF0-40B3-AD99-13DF744950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 Factor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85-4689-AC55-4ED59BEC0D42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85-4689-AC55-4ED59BEC0D42}"/>
              </c:ext>
            </c:extLst>
          </c:dPt>
          <c:dPt>
            <c:idx val="2"/>
            <c:invertIfNegative val="0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85-4689-AC55-4ED59BEC0D42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85-4689-AC55-4ED59BEC0D42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185-4689-AC55-4ED59BEC0D42}"/>
              </c:ext>
            </c:extLst>
          </c:dPt>
          <c:dPt>
            <c:idx val="5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185-4689-AC55-4ED59BEC0D42}"/>
              </c:ext>
            </c:extLst>
          </c:dPt>
          <c:dPt>
            <c:idx val="6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185-4689-AC55-4ED59BEC0D42}"/>
              </c:ext>
            </c:extLst>
          </c:dPt>
          <c:dPt>
            <c:idx val="7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185-4689-AC55-4ED59BEC0D42}"/>
              </c:ext>
            </c:extLst>
          </c:dPt>
          <c:dPt>
            <c:idx val="8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185-4689-AC55-4ED59BEC0D42}"/>
              </c:ext>
            </c:extLst>
          </c:dPt>
          <c:dPt>
            <c:idx val="9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185-4689-AC55-4ED59BEC0D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Globespan Airways</c:v>
                </c:pt>
                <c:pt idx="1">
                  <c:v>Allegiant Air</c:v>
                </c:pt>
                <c:pt idx="2">
                  <c:v>XL Airways France</c:v>
                </c:pt>
                <c:pt idx="3">
                  <c:v>Sichuan Airlines</c:v>
                </c:pt>
                <c:pt idx="4">
                  <c:v>Skyservice Airlines</c:v>
                </c:pt>
                <c:pt idx="5">
                  <c:v>Corsair</c:v>
                </c:pt>
                <c:pt idx="6">
                  <c:v>Jin Air Co Ltd.</c:v>
                </c:pt>
                <c:pt idx="7">
                  <c:v>Etihad Airways</c:v>
                </c:pt>
                <c:pt idx="8">
                  <c:v>Air Berlin PLC</c:v>
                </c:pt>
                <c:pt idx="9">
                  <c:v>Jet Airways India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94.76</c:v>
                </c:pt>
                <c:pt idx="1">
                  <c:v>89.36</c:v>
                </c:pt>
                <c:pt idx="2">
                  <c:v>88.48</c:v>
                </c:pt>
                <c:pt idx="3">
                  <c:v>88.21</c:v>
                </c:pt>
                <c:pt idx="4">
                  <c:v>88.12</c:v>
                </c:pt>
                <c:pt idx="5">
                  <c:v>87.36</c:v>
                </c:pt>
                <c:pt idx="6">
                  <c:v>86.4</c:v>
                </c:pt>
                <c:pt idx="7">
                  <c:v>84.95</c:v>
                </c:pt>
                <c:pt idx="8">
                  <c:v>84.43</c:v>
                </c:pt>
                <c:pt idx="9">
                  <c:v>83.47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185-4689-AC55-4ED59BEC0D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Passengers (M)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1C-4DC5-A824-FAD55FCD66E5}"/>
              </c:ext>
            </c:extLst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1C-4DC5-A824-FAD55FCD66E5}"/>
              </c:ext>
            </c:extLst>
          </c:dPt>
          <c:dPt>
            <c:idx val="2"/>
            <c:invertIfNegative val="0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C1C-4DC5-A824-FAD55FCD66E5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C1C-4DC5-A824-FAD55FCD66E5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C1C-4DC5-A824-FAD55FCD66E5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C1C-4DC5-A824-FAD55FCD66E5}"/>
              </c:ext>
            </c:extLst>
          </c:dPt>
          <c:dPt>
            <c:idx val="6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C1C-4DC5-A824-FAD55FCD66E5}"/>
              </c:ext>
            </c:extLst>
          </c:dPt>
          <c:dPt>
            <c:idx val="7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C1C-4DC5-A824-FAD55FCD66E5}"/>
              </c:ext>
            </c:extLst>
          </c:dPt>
          <c:dPt>
            <c:idx val="8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C1C-4DC5-A824-FAD55FCD66E5}"/>
              </c:ext>
            </c:extLst>
          </c:dPt>
          <c:dPt>
            <c:idx val="9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C1C-4DC5-A824-FAD55FCD66E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Southwest</c:v>
                </c:pt>
                <c:pt idx="1">
                  <c:v>Delta</c:v>
                </c:pt>
                <c:pt idx="2">
                  <c:v>US Airways</c:v>
                </c:pt>
                <c:pt idx="3">
                  <c:v>Continental</c:v>
                </c:pt>
                <c:pt idx="4">
                  <c:v>JetBlue</c:v>
                </c:pt>
                <c:pt idx="5">
                  <c:v>AirTran</c:v>
                </c:pt>
                <c:pt idx="6">
                  <c:v>SkyWest</c:v>
                </c:pt>
                <c:pt idx="7">
                  <c:v>American</c:v>
                </c:pt>
                <c:pt idx="8">
                  <c:v>Am. Eagle</c:v>
                </c:pt>
                <c:pt idx="9">
                  <c:v>Alaska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34.1</c:v>
                </c:pt>
                <c:pt idx="1">
                  <c:v>28.8</c:v>
                </c:pt>
                <c:pt idx="2">
                  <c:v>15.6</c:v>
                </c:pt>
                <c:pt idx="3">
                  <c:v>13.1</c:v>
                </c:pt>
                <c:pt idx="4">
                  <c:v>7.3</c:v>
                </c:pt>
                <c:pt idx="5">
                  <c:v>7.3</c:v>
                </c:pt>
                <c:pt idx="6">
                  <c:v>7.1</c:v>
                </c:pt>
                <c:pt idx="7">
                  <c:v>5.9</c:v>
                </c:pt>
                <c:pt idx="8">
                  <c:v>5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C1C-4DC5-A824-FAD55FCD66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Flights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11B-4511-811D-5CF4DAB9D25B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1B-4511-811D-5CF4DAB9D25B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1B-4511-811D-5CF4DAB9D25B}"/>
              </c:ext>
            </c:extLst>
          </c:dPt>
          <c:dPt>
            <c:idx val="3"/>
            <c:invertIfNegative val="0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1B-4511-811D-5CF4DAB9D25B}"/>
              </c:ext>
            </c:extLst>
          </c:dPt>
          <c:dPt>
            <c:idx val="4"/>
            <c:invertIfNegative val="0"/>
            <c:bubble3D val="0"/>
            <c:spPr>
              <a:solidFill>
                <a:srgbClr val="84CC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11B-4511-811D-5CF4DAB9D25B}"/>
              </c:ext>
            </c:extLst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11B-4511-811D-5CF4DAB9D25B}"/>
              </c:ext>
            </c:extLst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11B-4511-811D-5CF4DAB9D25B}"/>
              </c:ext>
            </c:extLst>
          </c:dPt>
          <c:dPt>
            <c:idx val="7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11B-4511-811D-5CF4DAB9D25B}"/>
              </c:ext>
            </c:extLst>
          </c:dPt>
          <c:dPt>
            <c:idx val="8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11B-4511-811D-5CF4DAB9D25B}"/>
              </c:ext>
            </c:extLst>
          </c:dPt>
          <c:dPt>
            <c:idx val="9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11B-4511-811D-5CF4DAB9D2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Atlanta–New York</c:v>
                </c:pt>
                <c:pt idx="1">
                  <c:v>Boston–New York</c:v>
                </c:pt>
                <c:pt idx="2">
                  <c:v>DC–New York</c:v>
                </c:pt>
                <c:pt idx="3">
                  <c:v>New York–Boston</c:v>
                </c:pt>
                <c:pt idx="4">
                  <c:v>New York–DC</c:v>
                </c:pt>
                <c:pt idx="5">
                  <c:v>Hyannis–Nantucket</c:v>
                </c:pt>
                <c:pt idx="6">
                  <c:v>Honolulu–Lihue</c:v>
                </c:pt>
                <c:pt idx="7">
                  <c:v>Kahului–Honolulu</c:v>
                </c:pt>
                <c:pt idx="8">
                  <c:v>Seattle–Portland</c:v>
                </c:pt>
                <c:pt idx="9">
                  <c:v>LA–San Francisco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5456</c:v>
                </c:pt>
                <c:pt idx="1">
                  <c:v>5372</c:v>
                </c:pt>
                <c:pt idx="2">
                  <c:v>5302</c:v>
                </c:pt>
                <c:pt idx="3">
                  <c:v>4893</c:v>
                </c:pt>
                <c:pt idx="4">
                  <c:v>4888</c:v>
                </c:pt>
                <c:pt idx="5">
                  <c:v>4798</c:v>
                </c:pt>
                <c:pt idx="6">
                  <c:v>4651</c:v>
                </c:pt>
                <c:pt idx="7">
                  <c:v>4242</c:v>
                </c:pt>
                <c:pt idx="8">
                  <c:v>4189</c:v>
                </c:pt>
                <c:pt idx="9">
                  <c:v>4157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11B-4511-811D-5CF4DAB9D2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35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Flights (000s)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97-4818-B3A3-9279138058C8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97-4818-B3A3-9279138058C8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97-4818-B3A3-9279138058C8}"/>
              </c:ext>
            </c:extLst>
          </c:dPt>
          <c:dPt>
            <c:idx val="3"/>
            <c:invertIfNegative val="0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A97-4818-B3A3-9279138058C8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A97-4818-B3A3-9279138058C8}"/>
              </c:ext>
            </c:extLst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A97-4818-B3A3-9279138058C8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A97-4818-B3A3-9279138058C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&lt;500 mi</c:v>
                </c:pt>
                <c:pt idx="1">
                  <c:v>500-999</c:v>
                </c:pt>
                <c:pt idx="2">
                  <c:v>1000-1499</c:v>
                </c:pt>
                <c:pt idx="3">
                  <c:v>1500-1999</c:v>
                </c:pt>
                <c:pt idx="4">
                  <c:v>2000-2499</c:v>
                </c:pt>
                <c:pt idx="5">
                  <c:v>3500-3999</c:v>
                </c:pt>
                <c:pt idx="6">
                  <c:v>2500-2999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58047</c:v>
                </c:pt>
                <c:pt idx="1">
                  <c:v>28131</c:v>
                </c:pt>
                <c:pt idx="2">
                  <c:v>11333</c:v>
                </c:pt>
                <c:pt idx="3">
                  <c:v>6092</c:v>
                </c:pt>
                <c:pt idx="4">
                  <c:v>2330</c:v>
                </c:pt>
                <c:pt idx="5">
                  <c:v>1084</c:v>
                </c:pt>
                <c:pt idx="6">
                  <c:v>855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97-4818-B3A3-9279138058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643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7955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Airline Performance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Dashboard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3547872"/>
            <a:ext cx="7315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703320"/>
            <a:ext cx="265176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110,851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Flights Analyzed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3703320"/>
            <a:ext cx="265176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2008–2013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2900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Years Covered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3703320"/>
            <a:ext cx="265176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76.8%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0936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Avg Load Factor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89720" y="3703320"/>
            <a:ext cx="265176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Excel · Power BI · Tableau · SQL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8972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Tools: Microsoft Excel  ·  Power BI  ·  Tableau  ·  MySQL  ·  Business Intelligence Analytics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686800" y="365760"/>
            <a:ext cx="2834640" cy="2834640"/>
          </a:xfrm>
          <a:prstGeom prst="ellipse">
            <a:avLst/>
          </a:prstGeom>
          <a:solidFill>
            <a:srgbClr val="1320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7315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3B82F6"/>
                </a:solidFill>
              </a:rPr>
              <a:t>✈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</a:rPr>
              <a:t>Airline Operations KPI Report · 2008–2013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1417320"/>
          </a:xfrm>
          <a:prstGeom prst="rect">
            <a:avLst/>
          </a:prstGeom>
          <a:solidFill>
            <a:srgbClr val="0A1628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187M+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Total Passengers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Transported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005840"/>
            <a:ext cx="2743200" cy="1417320"/>
          </a:xfrm>
          <a:prstGeom prst="rect">
            <a:avLst/>
          </a:prstGeom>
          <a:solidFill>
            <a:srgbClr val="0A1628"/>
          </a:solidFill>
          <a:ln w="25400">
            <a:solidFill>
              <a:srgbClr val="1E40A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005840"/>
            <a:ext cx="27432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40AF"/>
                </a:solidFill>
              </a:rPr>
              <a:t>76.8%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64408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Overall Average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Load Factor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8776" y="1005840"/>
            <a:ext cx="2743200" cy="1417320"/>
          </a:xfrm>
          <a:prstGeom prst="rect">
            <a:avLst/>
          </a:prstGeom>
          <a:solidFill>
            <a:srgbClr val="0A1628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00584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76.9%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08776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Weekend 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Factor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53144" y="1005840"/>
            <a:ext cx="2743200" cy="1417320"/>
          </a:xfrm>
          <a:prstGeom prst="rect">
            <a:avLst/>
          </a:prstGeom>
          <a:solidFill>
            <a:srgbClr val="0A1628"/>
          </a:solidFill>
          <a:ln w="254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53144" y="1005840"/>
            <a:ext cx="27432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53144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</a:rPr>
              <a:t>76.7%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53144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Weekday 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Factor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26060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KEY BUSINESS ANALYST INSIGHTS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999232"/>
            <a:ext cx="114300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108960"/>
            <a:ext cx="557784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108960"/>
            <a:ext cx="64008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5468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📈 Load Factor Upward Trend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447288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Load factor grew from 75.3% (2008) to 78.1% (2013), indicating improving seat utilization and revenue optimization over 5 years.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3108960"/>
            <a:ext cx="557784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108960"/>
            <a:ext cx="64008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15468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🌞 Weekend vs Weekday Parity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447288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Weekend load (76.9%) marginally exceeds weekday (76.7%), suggesting leisure travelers drive near-equal demand — unique for domestic aviation.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069080"/>
            <a:ext cx="557784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069080"/>
            <a:ext cx="64008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148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✈ Short-Haul Dominates Fleet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407408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58,047 flights under 500 miles dominate operations (52.4%), signaling strong regional demand. Revenue yield per mile is typically higher on short routes.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4069080"/>
            <a:ext cx="557784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4069080"/>
            <a:ext cx="64008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41148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🏆 Southwest Leads Passenger Volume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4407408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Southwest Airlines carried 34.1M passengers — the highest of any carrier — while Globespan achieves the top load factor at 94.8%, signaling niche efficiency.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5029200"/>
            <a:ext cx="557784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5029200"/>
            <a:ext cx="64008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0749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🗺 Northeast Corridor Saturation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5367528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Top 3 routes are all NY-related (ATL-NY, BOS-NY, DC-NY), indicating Northeast corridor over-saturation and potential for yield management optimization.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5029200"/>
            <a:ext cx="557784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5029200"/>
            <a:ext cx="64008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50749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📅 Summer Peak Seasonality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63640" y="5367528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July peaks at 81.5% load factor, January dips to 69.7% — a 12pp spread. Capacity planning and dynamic pricing should be calibrated to this seasonal curve.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 FACTOR ANALYSIS — YEARLY &amp; QUARTERLY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0" y="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</a:rPr>
              <a:t>KPI #2 · Q2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Load Factor % by Year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325880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960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Load Factor % by Quarter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400800" y="1325880"/>
          <a:ext cx="5394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4343400"/>
            <a:ext cx="11430000" cy="1417320"/>
          </a:xfrm>
          <a:prstGeom prst="rect">
            <a:avLst/>
          </a:prstGeom>
          <a:solidFill>
            <a:srgbClr val="0A1628"/>
          </a:solidFill>
          <a:ln w="1905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" y="434340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4074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💡  ANALYST INSIGHTS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4709160"/>
            <a:ext cx="11521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Consistent upward trend: Load Factor improved by +2.8pp from 2008 (75.3%) to 2013 (78.1%), recovering strongly post-2008 financial crisis.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Q3 dominates (79.1%) driven by summer leisure travel — airlines should consider premium pricing strategy in July–August peak.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Q1 is the weakest quarter (73.0%), representing a capacity optimization opportunity through fleet right-sizing or promotional fare strategies.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 FACTOR ANALYSIS — MONTHLY SEASONALITY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0" y="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B8A6"/>
                </a:solidFill>
              </a:rPr>
              <a:t>KPI #2 · Q2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11430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754880"/>
            <a:ext cx="2743200" cy="1051560"/>
          </a:xfrm>
          <a:prstGeom prst="rect">
            <a:avLst/>
          </a:prstGeom>
          <a:solidFill>
            <a:srgbClr val="0A1628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75488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48646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July — 81.5%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5367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Peak Month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64408" y="4754880"/>
            <a:ext cx="2743200" cy="1051560"/>
          </a:xfrm>
          <a:prstGeom prst="rect">
            <a:avLst/>
          </a:prstGeom>
          <a:solidFill>
            <a:srgbClr val="0A1628"/>
          </a:solidFill>
          <a:ln w="254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475488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64408" y="48646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</a:rPr>
              <a:t>Jan — 69.7%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264408" y="5367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Trough Month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08776" y="4754880"/>
            <a:ext cx="2743200" cy="1051560"/>
          </a:xfrm>
          <a:prstGeom prst="rect">
            <a:avLst/>
          </a:prstGeom>
          <a:solidFill>
            <a:srgbClr val="0A1628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08776" y="475488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08776" y="48646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</a:rPr>
              <a:t>11.8pp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208776" y="5367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Seasonal Spread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153144" y="4754880"/>
            <a:ext cx="2743200" cy="1051560"/>
          </a:xfrm>
          <a:prstGeom prst="rect">
            <a:avLst/>
          </a:prstGeom>
          <a:solidFill>
            <a:srgbClr val="0A1628"/>
          </a:solidFill>
          <a:ln w="254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153144" y="475488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53144" y="48646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</a:rPr>
              <a:t>80.6%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153144" y="5367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Summer Avg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(Jun–Aug)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 FACTOR BY CARRIER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0" y="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82F6"/>
                </a:solidFill>
              </a:rPr>
              <a:t>KPI #3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73152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960120"/>
            <a:ext cx="3977640" cy="4846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1051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TOP PERFORMERS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1417320"/>
            <a:ext cx="3794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55280" y="1508760"/>
            <a:ext cx="379476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15819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🥇 Globespan Airways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0" y="19202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Load Factor: 94.76%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21762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Highest load factor — likely a charter/leisure carrier with very targeted capacity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955280" y="2880360"/>
            <a:ext cx="379476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29535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🥈 Allegiant Air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0" y="32918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Load Factor: 89.36%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0" y="35478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Ultra-low-cost model; matches flights precisely to high-demand leisure routes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955280" y="4251960"/>
            <a:ext cx="379476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43251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🥉 XL Airways France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0" y="46634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Load Factor: 88.48%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46720" y="49194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Transatlantic leisure carrier leveraging seasonal demand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955280" y="4800600"/>
            <a:ext cx="3794760" cy="914400"/>
          </a:xfrm>
          <a:prstGeom prst="rect">
            <a:avLst/>
          </a:prstGeom>
          <a:solidFill>
            <a:srgbClr val="0F20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482803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046720" y="509320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Specialty/charter carriers outperform legacy carriers in load factor, suggesting legacy airlines have structural capacity over-allocation.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10 CARRIERS BY PASSENGER VOLUME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0" y="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BF24"/>
                </a:solidFill>
              </a:rPr>
              <a:t>KPI #4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7772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960120"/>
            <a:ext cx="3520440" cy="4846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0" y="10515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MARKET SHARE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412480" y="1481328"/>
            <a:ext cx="333756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15179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Southwest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784080" y="15179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34.1M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652760" y="151790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26.4%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412480" y="1892808"/>
            <a:ext cx="33375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0" y="19293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Delta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784080" y="192938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28.8M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652760" y="192938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22.3%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412480" y="2304288"/>
            <a:ext cx="333756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58200" y="23408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US Airways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9784080" y="23408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15.6M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652760" y="234086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12.1%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412480" y="2715768"/>
            <a:ext cx="33375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58200" y="27523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Continental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9784080" y="275234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13.1M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652760" y="275234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10.1%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412480" y="3127248"/>
            <a:ext cx="333756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58200" y="316382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JetBlue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784080" y="31638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7.3M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652760" y="316382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5.7%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412480" y="3538728"/>
            <a:ext cx="33375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58200" y="35753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AirTran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9784080" y="35753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7.3M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652760" y="357530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5.7%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412480" y="3950208"/>
            <a:ext cx="333756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58200" y="39867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SkyWest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784080" y="398678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7.1M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0652760" y="398678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5.5%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412480" y="4361688"/>
            <a:ext cx="33375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58200" y="43982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American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9784080" y="43982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5.9M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0652760" y="439826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4.6%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8412480" y="4773168"/>
            <a:ext cx="333756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458200" y="48097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Am. Eagle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9784080" y="480974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5.0M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0652760" y="480974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3.9%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8412480" y="5184648"/>
            <a:ext cx="33375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58200" y="522122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Alaska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9784080" y="52212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</a:rPr>
              <a:t>4.9M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10652760" y="522122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3.8%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8412480" y="5623560"/>
            <a:ext cx="33375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412480" y="574243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BF24"/>
                </a:solidFill>
              </a:rPr>
              <a:t>💡 Southwest + Delta = 48.7% combined share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ROUTES BY NUMBER OF FLIGHTS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0" y="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</a:rPr>
              <a:t>KPI #5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7772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960120"/>
            <a:ext cx="3520440" cy="4846320"/>
          </a:xfrm>
          <a:prstGeom prst="rect">
            <a:avLst/>
          </a:prstGeom>
          <a:solidFill>
            <a:srgbClr val="0A1628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0" y="10515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ROUTE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412480" y="1508760"/>
            <a:ext cx="333756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0" y="150876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22208" y="1554480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Northeast Corridor Dominates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22208" y="184708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4 of top 5 routes involve New York City, reflecting massive demand concentration in the NE corridor.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412480" y="2514600"/>
            <a:ext cx="333756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0" y="251460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22208" y="2560320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Island Routes Show High Frequency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22208" y="285292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Hawaii intra-island routes (Honolulu-Lihue, Kahului-Honolulu) make top 10 due to no ground alternative.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412480" y="3520440"/>
            <a:ext cx="333756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0" y="352044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22208" y="3566160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West Coast Corridor Growing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522208" y="385876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Seattle-Portland and LA-SF represent emerging high-frequency short corridors with rail competition risk.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412480" y="4526280"/>
            <a:ext cx="333756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12480" y="452628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22208" y="4572000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Revenue Optimization Opportunity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22208" y="486460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High frequency on NE corridor suggests yield management can be improved through premium class upselling.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WEEKEND vs WEEKDAY  &amp;  DISTANCE GROUP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0" y="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KPI #6 &amp; #7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514600" cy="2377440"/>
          </a:xfrm>
          <a:prstGeom prst="rect">
            <a:avLst/>
          </a:prstGeom>
          <a:solidFill>
            <a:srgbClr val="0A1628"/>
          </a:solidFill>
          <a:ln w="25400">
            <a:solidFill>
              <a:srgbClr val="1E40A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514600" cy="914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🗓 Weekday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581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Load Factor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40AF"/>
                </a:solidFill>
              </a:rPr>
              <a:t>76.7%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Passengers: 133.3M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6334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</a:rPr>
              <a:t>Δ vs avg: −0.1pp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3240" y="1005840"/>
            <a:ext cx="2514600" cy="2377440"/>
          </a:xfrm>
          <a:prstGeom prst="rect">
            <a:avLst/>
          </a:prstGeom>
          <a:solidFill>
            <a:srgbClr val="0A1628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63240" y="1005840"/>
            <a:ext cx="25146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1704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🌟 Weekend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63240" y="1581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Load Factor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76.9%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06324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Passengers: 53.8M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63240" y="26334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Δ vs avg: +0.2pp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493008"/>
            <a:ext cx="525780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4787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💡 Near-Parity Insight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840480"/>
            <a:ext cx="5074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Weekday vs Weekend load factor difference is only 0.2pp (76.7% vs 76.9%), suggesting airlines have effectively balanced capacity across both day types. This eliminates significant pricing differentiation opportunity.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0" y="9601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Flights by Distance Group</a:t>
            </a:r>
            <a:endParaRPr lang="en-US" sz="12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5943600" y="1325880"/>
          <a:ext cx="5943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5943600" y="4663440"/>
            <a:ext cx="59436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0" y="4690872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💡 Short-Haul Dominance: 52.4% of flights are under 500 miles. Regional aviation drives frequency; long-haul routes (3,500+ mi) represent just 1% of flights but disproportionately higher revenue per flight.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ANALYSIS — DATA METHODOLOGY &amp; QUERIES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0" y="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5CF6"/>
                </a:solidFill>
              </a:rPr>
              <a:t>MySQL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715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5715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5486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058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005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Date Field 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4630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Constructed derived date fields from Year/Month/Day columns: Full Date, Year, MonthNo, MonthFullName, Quarter (Q1-Q4), YearMonth (YYYY-MMM), WeekdayNo, WeekdayName, Financial Month &amp; Quarter.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029968"/>
            <a:ext cx="5486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4825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STR_TO_DATE(CONCAT(Year,'-',Month,'-',Day),'%Y-%m-%d')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CONCAT('Q', QUARTER(...)) → Quarter Label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DAYNAME(...) → Weekday Name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5715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05840"/>
            <a:ext cx="5715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005840"/>
            <a:ext cx="5486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058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1005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 Factor by Year/Quarter/Month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9088" y="14630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Computed load factor as (Transported Passengers / Available Seats) × 100, grouped across all temporal dimensions.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0" y="2029968"/>
            <a:ext cx="5486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04825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ROUND(SUM(Transported_Pax)/SUM(Available_Seats)*100, 2)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Year, Quarter_Value, Month_Name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5715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34640"/>
            <a:ext cx="5715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834640"/>
            <a:ext cx="5486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346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Q3-Q4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28346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Carrier Performance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32918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Ranked top 10 carriers by passenger volume using window functions (ROW_NUMBER OVER ORDER BY SUM DESC) and computed load factor per carrier.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858768"/>
            <a:ext cx="5486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7705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ROW_NUMBER() OVER (ORDER BY SUM(Transported_Pax) DESC)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Carrier_Name · LIMIT 10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309360" y="2834640"/>
            <a:ext cx="5715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2834640"/>
            <a:ext cx="5715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2834640"/>
            <a:ext cx="5486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28346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28346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Routes by Flights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19088" y="32918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Identified busiest city-pair routes using CONCAT for route label, COUNT(*) for flight volume, ordered descending.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0" y="3858768"/>
            <a:ext cx="5486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87705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CONCAT(Origin_City,' → ',Destination_City) AS Route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 AS Number_Of_Flights · ORDER BY DESC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" y="4663440"/>
            <a:ext cx="5715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4663440"/>
            <a:ext cx="5715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663440"/>
            <a:ext cx="5486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6634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4663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Weekend vs Weekday Load Factor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9768" y="51206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Used CASE-WHEN with DAYNAME to classify flights as Weekend/Weekday, then compared load factors for each day type.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1480" y="5687568"/>
            <a:ext cx="5486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570585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CASE WHEN DAYNAME(...) IN ('Saturday','Sunday')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'Weekend' ELSE 'Weekday' END AS Day_Type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309360" y="4663440"/>
            <a:ext cx="5715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09360" y="4663440"/>
            <a:ext cx="5715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4663440"/>
            <a:ext cx="5486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46634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03720" y="4663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Flights by Distance Group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19088" y="51206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Grouped flights by Distance Group ID, ranked by flight count using ROW_NUMBER to identify operational distribution across distance bands.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00800" y="5687568"/>
            <a:ext cx="5486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570585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ROW_NUMBER() OVER (ORDER BY COUNT(*) DESC)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Distance_Group_ID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&amp; TABLEAU DASHBOARD COVERAGE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5778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2C81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577840" cy="5486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⚡  POWER BI DASHBOARD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539496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190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▸ Load Factor KPI Cards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91109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Year-on-year load factor with trend indicators (2008–2013)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2203704"/>
            <a:ext cx="5394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311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▸ Carrier Performance Matrix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Load factor by carrier with conditional color formatting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2715768"/>
            <a:ext cx="539496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▸ Monthly Trend 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93522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Interactive line chart showing seasonal load factor patterns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" y="3227832"/>
            <a:ext cx="5394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552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▸ Route Frequency Map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44728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Top 10 routes by number of flights with filtering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3739896"/>
            <a:ext cx="539496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67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▸ Weekend vs Weekday Slicer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95935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Dynamic toggle comparing day-type load factor performance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11480" y="4251960"/>
            <a:ext cx="5394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79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▸ Distance Group Histogram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447141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Flight distribution across 19 distance bands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11480" y="4764024"/>
            <a:ext cx="539496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91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▸ Year/Quarter Filter Panel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98348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Cross-visual slicers for temporal drill-down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11480" y="5276088"/>
            <a:ext cx="5394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303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▸ Passenger Volume Funnel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549554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Top carriers ranked by transported passengers (M)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63640" y="1005840"/>
            <a:ext cx="55778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77B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1005840"/>
            <a:ext cx="5577840" cy="5486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0058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TABLEAU DASHBOARD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55080" y="1691640"/>
            <a:ext cx="539496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17190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</a:rPr>
              <a:t>▸ Geospatial Route Map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46520" y="191109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Origin-Destination city pairs overlaid on US map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355080" y="2203704"/>
            <a:ext cx="5394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22311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</a:rPr>
              <a:t>▸ Load Factor Heat Map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46520" y="242316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Month × Year matrix showing load factor intensity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55080" y="2715768"/>
            <a:ext cx="539496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</a:rPr>
              <a:t>▸ Carrier Bubble Chart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46520" y="293522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Bubble size = passengers; color = load factor quartile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355080" y="3227832"/>
            <a:ext cx="5394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2552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</a:rPr>
              <a:t>▸ Distance vs Load Factor Scatter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46520" y="344728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Correlation analysis between route distance and utilization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55080" y="3739896"/>
            <a:ext cx="539496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3767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</a:rPr>
              <a:t>▸ KPI Summary Bar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46520" y="395935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Top-line metrics: Total Flights, Passengers, LF%, Avg Distance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355080" y="4251960"/>
            <a:ext cx="5394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4279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</a:rPr>
              <a:t>▸ Quarter Trend Comparison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46520" y="447141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Q1-Q4 side-by-side trend across all 6 years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355080" y="4764024"/>
            <a:ext cx="539496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4791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</a:rPr>
              <a:t>▸ State-Level Performance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446520" y="498348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Origin state drill-down for regional analysis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355080" y="5276088"/>
            <a:ext cx="5394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5303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</a:rPr>
              <a:t>▸ Interactive Tooltips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46520" y="549554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Hover details on all charts showing full route/carrier stats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 — BUSINESS ANALYST INSIGHTS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6692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0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1051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Dynamic Capacity Management in Q1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13716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📌 Finding: Q1 load factor (73.0%) is 6pp below Q3 peak (79.1%)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41832" y="166420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→ Implement fleet right-sizing: deploy smaller regional jets in Jan–Feb; use capacity-sharing agreements with regional partners to reduce per-seat costs during off-peak.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941832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</a:rPr>
              <a:t>💰 Estimated 2–4% CASK reduction in Q1 operations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63640" y="1005840"/>
            <a:ext cx="56692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005840"/>
            <a:ext cx="548640" cy="16642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508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85432" y="1051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Northeast Corridor Yield Optimization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85432" y="13716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📌 Finding: NY routes dominate with 5,300–5,456 flights; near-capacity utilization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85432" y="166420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→ Introduce premium economy tiers and last-seat availability pricing algorithms for NY-hub routes. Partner with Amtrak for intermodal codeshare to capture unserved segments.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885432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</a:rPr>
              <a:t>💰 Potential 8–12% revenue uplift on top 5 routes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56692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88920"/>
            <a:ext cx="548640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91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1832" y="2834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Charter Model Benchmarking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" y="3154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📌 Finding: Globespan (94.8%) and Allegiant (89.4%) far exceed legacy carrier averages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41832" y="344728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→ Adopt point-to-point scheduling and demand-led frequency planning. Legacy carriers should study charter models for route selection criteria and ancillary revenue strategies.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941832" y="4023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💰 LF improvement target: +3–5pp for underperforming routes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2788920"/>
            <a:ext cx="56692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2788920"/>
            <a:ext cx="548640" cy="16642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291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85432" y="2834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</a:rPr>
              <a:t>Summer Peak Revenue Capture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85432" y="3154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📌 Finding: July–August LF peaks at 81.5%–80% with unmet demand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85432" y="344728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→ Increase capacity 8–10% on top summer routes 90 days in advance. Implement surge pricing caps and early-bird discounts to smooth demand across shoulder months.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885432" y="4023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BBF24"/>
                </a:solidFill>
              </a:rPr>
              <a:t>💰 Prevent revenue dilution from oversold/cancelled flights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4572000"/>
            <a:ext cx="56692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572000"/>
            <a:ext cx="548640" cy="16642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5074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41832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Short-Haul Network Consolidation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1832" y="49377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📌 Finding: 58,047 flights (&lt;500 miles) — 52.4% of total; fragmented regional coverage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41832" y="523036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→ Consolidate underperforming sub-500 mile routes with fewer, higher-frequency services. Evaluate substitution with premium ground transport partnerships in dense corridors.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941832" y="5806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</a:rPr>
              <a:t>💰 Fleet efficiency gain; reduced per-flight overhead costs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4572000"/>
            <a:ext cx="56692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4572000"/>
            <a:ext cx="548640" cy="16642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5074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885432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</a:rPr>
              <a:t>Data-Driven Route Development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85432" y="49377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📌 Finding: LA–SF and Seattle–Portland show steady growth with rail competition risk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85432" y="523036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→ Develop predictive demand models integrating economic indicators, event calendars, and competitor schedules. Use ML-based overbooking models to optimize denied boarding rates.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885432" y="5806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C4899"/>
                </a:solidFill>
              </a:rPr>
              <a:t>💰 Consistent 1–2pp LF improvement across mid-tier routes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</a:rPr>
              <a:t>✈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</a:rPr>
              <a:t>Airline Operations Intelligence · Group 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611880"/>
            <a:ext cx="7315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794760"/>
            <a:ext cx="2468880" cy="1188720"/>
          </a:xfrm>
          <a:prstGeom prst="rect">
            <a:avLst/>
          </a:prstGeom>
          <a:solidFill>
            <a:srgbClr val="1A27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76.8%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Avg Load Factor 2008–13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3794760"/>
            <a:ext cx="2468880" cy="1188720"/>
          </a:xfrm>
          <a:prstGeom prst="rect">
            <a:avLst/>
          </a:prstGeom>
          <a:solidFill>
            <a:srgbClr val="1A27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78.1%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4434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Peak Year LF (2013)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2468880" cy="1188720"/>
          </a:xfrm>
          <a:prstGeom prst="rect">
            <a:avLst/>
          </a:prstGeom>
          <a:solidFill>
            <a:srgbClr val="1A27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110,851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63640" y="4434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Flights Analyzed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06840" y="3794760"/>
            <a:ext cx="2468880" cy="1188720"/>
          </a:xfrm>
          <a:prstGeom prst="rect">
            <a:avLst/>
          </a:prstGeom>
          <a:solidFill>
            <a:srgbClr val="1A27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187M+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06840" y="4434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Passengers Transported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1696</Words>
  <Application>Microsoft Office PowerPoint</Application>
  <PresentationFormat>Widescreen</PresentationFormat>
  <Paragraphs>255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Operations Analytics Dashboard</dc:title>
  <dc:subject>PptxGenJS Presentation</dc:subject>
  <dc:creator>PptxGenJS</dc:creator>
  <cp:lastModifiedBy>Himanshu kumar Dhara</cp:lastModifiedBy>
  <cp:revision>3</cp:revision>
  <dcterms:created xsi:type="dcterms:W3CDTF">2026-05-19T09:17:55Z</dcterms:created>
  <dcterms:modified xsi:type="dcterms:W3CDTF">2026-05-19T09:34:10Z</dcterms:modified>
</cp:coreProperties>
</file>